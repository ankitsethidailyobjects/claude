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Customer Modelling &amp;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FB0C4"/>
                </a:solidFill>
                <a:latin typeface="Calibri"/>
              </a:rPr>
              <a:t>Cohorts · Category Affinity · Retention · MoEngage activation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800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D93"/>
                </a:solidFill>
                <a:latin typeface="Calibri"/>
              </a:rPr>
              <a:t>DailyObjects · DMR 2020–Jul 2026 · 1.38M customers · 2.86M orders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we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0C4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0F1B2D"/>
                </a:solidFill>
                <a:latin typeface="Calibri"/>
              </a:rPr>
              <a:t>• Identity resolution — </a:t>
            </a:r>
            <a:r>
              <a:rPr sz="1500">
                <a:solidFill>
                  <a:srgbClr val="0F1B2D"/>
                </a:solidFill>
                <a:latin typeface="Calibri"/>
              </a:rPr>
              <a:t>linked 1.38M unique customers across email + phone + account-UUID (fixes 2024 email masking; hub-suppressed to avoid over-merging).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B2D"/>
                </a:solidFill>
                <a:latin typeface="Calibri"/>
              </a:rPr>
              <a:t>• Enriched discounts — </a:t>
            </a:r>
            <a:r>
              <a:rPr sz="1500">
                <a:solidFill>
                  <a:srgbClr val="0F1B2D"/>
                </a:solidFill>
                <a:latin typeface="Calibri"/>
              </a:rPr>
              <a:t>the DMR only stores final price, hiding price-led event drops (HPS, Diwali). We detect these from weekly ASP dips — discount penetration rises 21% → 49% of orders.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B2D"/>
                </a:solidFill>
                <a:latin typeface="Calibri"/>
              </a:rPr>
              <a:t>• Lifecycle slabs — </a:t>
            </a:r>
            <a:r>
              <a:rPr sz="1500">
                <a:solidFill>
                  <a:srgbClr val="0F1B2D"/>
                </a:solidFill>
                <a:latin typeface="Calibri"/>
              </a:rPr>
              <a:t>every customer labelled by lifetime order count: O1 (new) · O2 · 3+ (mature).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B2D"/>
                </a:solidFill>
                <a:latin typeface="Calibri"/>
              </a:rPr>
              <a:t>• Behavioural cohorts — </a:t>
            </a:r>
            <a:r>
              <a:rPr sz="1500">
                <a:solidFill>
                  <a:srgbClr val="0F1B2D"/>
                </a:solidFill>
                <a:latin typeface="Calibri"/>
              </a:rPr>
              <a:t>the 203K mature (3+) customers segmented via K-Means into Power Users, Deal Seekers, Light Users — on frequency, value &amp; enriched discount reliance.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B2D"/>
                </a:solidFill>
                <a:latin typeface="Calibri"/>
              </a:rPr>
              <a:t>• Affinity layer — </a:t>
            </a:r>
            <a:r>
              <a:rPr sz="1500">
                <a:solidFill>
                  <a:srgbClr val="0F1B2D"/>
                </a:solidFill>
                <a:latin typeface="Calibri"/>
              </a:rPr>
              <a:t>Tech vs Designer/Bags score + primary/secondary sub-category per customer.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B2D"/>
                </a:solidFill>
                <a:latin typeface="Calibri"/>
              </a:rPr>
              <a:t>• Leakage-safe validation — </a:t>
            </a:r>
            <a:r>
              <a:rPr sz="1500">
                <a:solidFill>
                  <a:srgbClr val="0F1B2D"/>
                </a:solidFill>
                <a:latin typeface="Calibri"/>
              </a:rPr>
              <a:t>cohorts assigned at a past cut-off (31 Jul 2025) and validated on the NEXT 12 months of purchasing.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B2D"/>
                </a:solidFill>
                <a:latin typeface="Calibri"/>
              </a:rPr>
              <a:t>• Repository — </a:t>
            </a:r>
            <a:r>
              <a:rPr sz="1500">
                <a:solidFill>
                  <a:srgbClr val="0F1B2D"/>
                </a:solidFill>
                <a:latin typeface="Calibri"/>
              </a:rPr>
              <a:t>1.38M-row master table with cohort, tiers, affinity &amp; contact keys — ready for MoEngage.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base — a leaky bucket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0C4"/>
                </a:solidFill>
                <a:latin typeface="Calibri"/>
              </a:rPr>
              <a:t>68.6% buy once and rarely return</a:t>
            </a:r>
          </a:p>
        </p:txBody>
      </p:sp>
      <p:pic>
        <p:nvPicPr>
          <p:cNvPr id="5" name="Picture 4" descr="base_affi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45994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6B7F"/>
                </a:solidFill>
                <a:latin typeface="Calibri"/>
              </a:rPr>
              <a:t>Only 8.5% of one-time buyers return within a year; value concentrates in the ~4% who become Power 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Price-led discounts, now captured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0C4"/>
                </a:solidFill>
                <a:latin typeface="Calibri"/>
              </a:rPr>
              <a:t>Detected from DMR weekly-ASP dips — validated vs the elasticity sheet</a:t>
            </a:r>
          </a:p>
        </p:txBody>
      </p:sp>
      <p:pic>
        <p:nvPicPr>
          <p:cNvPr id="5" name="Picture 4" descr="events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199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6B7F"/>
                </a:solidFill>
                <a:latin typeface="Calibri"/>
              </a:rPr>
              <a:t>HPS (Mar &amp; Aug), Diwali, Black Friday and Year-end drive 30–48% price cuts in tech. Buyers who only shop these looked ‘full-price’ before — now correctly flagged as Deal Seekers.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Three cohorts — validated on future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0C4"/>
                </a:solidFill>
                <a:latin typeface="Calibri"/>
              </a:rPr>
              <a:t>All 3+ order customers; behaviour (not order-count) defines the cohort</a:t>
            </a:r>
          </a:p>
        </p:txBody>
      </p:sp>
      <p:pic>
        <p:nvPicPr>
          <p:cNvPr id="5" name="Picture 4" descr="cohort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5880"/>
            <a:ext cx="11521440" cy="40744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6B7F"/>
                </a:solidFill>
                <a:latin typeface="Calibri"/>
              </a:rPr>
              <a:t>Power Users (28%) convert in BAU — 48% annual retention. Deal Seekers (31%) place 80% of orders on discount and lapse between sales. Light Users (42%) are low-value, mostly dormant.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Retention by cohort — monthly / quarterly / yearly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0C4"/>
                </a:solidFill>
                <a:latin typeface="Calibri"/>
              </a:rPr>
              <a:t>Anchor 31 Jul 2025, next 12 months</a:t>
            </a:r>
          </a:p>
        </p:txBody>
      </p:sp>
      <p:pic>
        <p:nvPicPr>
          <p:cNvPr id="5" name="Picture 4" descr="reten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72800" cy="43655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26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6B7F"/>
                </a:solidFill>
                <a:latin typeface="Calibri"/>
              </a:rPr>
              <a:t>Return spikes in ~Mar-2026 (next HPS) across all cohorts — repeat purchase is event-triggered, not habitual.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Return rates —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0C4"/>
                </a:solidFill>
                <a:latin typeface="Calibri"/>
              </a:rPr>
              <a:t>% of each cohort placing another order within…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554480"/>
          <a:ext cx="9966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92024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Cohort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Share of base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1 month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1 quarter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1 year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O1 — one-time (New)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68.6%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O2 — two orders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17.4%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Power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12.4%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24.3%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48.3%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Deal Seekers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12.1%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28.7%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Light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10.3%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1B2D"/>
                          </a:solidFill>
                        </a:rPr>
                        <a:t>24.8%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2560F"/>
                </a:solidFill>
                <a:latin typeface="Calibri"/>
              </a:rPr>
              <a:t>The 1st→2nd order is the single biggest retention lever: O1 returns at 8.5% vs Power at 48%.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goes to MoEngage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0C4"/>
                </a:solidFill>
                <a:latin typeface="Calibri"/>
              </a:rPr>
              <a:t>Warehouse computes · MoEngage activates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4206240"/>
                <a:gridCol w="219456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MoEngage attribute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Refresh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lifecycle_cohort / order_cohort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O1 (New) / 3+ (Mature)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daily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behavioural_cohort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Power Users / Deal Seekers / Light Users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monthly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activity_state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Active / Lapsed / Dormant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daily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value_tier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VIP / High / Mid / Low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weekly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cat_affinity + tech_score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Tech (0.82)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weekly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primary_subcategory / secondary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Wireless Charger / Designer Cases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weekly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days_since_last · lifetime_orders · aov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47 · 6 · ₹2,600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daily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EVENTS: cohort_changed, became_dormant, reactivated, reorder_due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B2D"/>
                          </a:solidFill>
                        </a:rPr>
                        <a:t>real-time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6B7F"/>
                </a:solidFill>
                <a:latin typeface="Calibri"/>
              </a:rPr>
              <a:t>Keyed on email/phone. Raw ML features stay in the warehouse; MoEngage receives finished decisions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Gaps &amp; the retention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2560F"/>
                </a:solidFill>
                <a:latin typeface="Calibri"/>
              </a:rPr>
              <a:t>WHERE WE LOSE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B2D"/>
                </a:solidFill>
                <a:latin typeface="Calibri"/>
              </a:rPr>
              <a:t>• Leaky top — </a:t>
            </a:r>
            <a:r>
              <a:rPr sz="1400">
                <a:solidFill>
                  <a:srgbClr val="0F1B2D"/>
                </a:solidFill>
                <a:latin typeface="Calibri"/>
              </a:rPr>
              <a:t>68.6% one-time, 8.5% return.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B2D"/>
                </a:solidFill>
                <a:latin typeface="Calibri"/>
              </a:rPr>
              <a:t>• O2→O3 stall — </a:t>
            </a:r>
            <a:r>
              <a:rPr sz="1400">
                <a:solidFill>
                  <a:srgbClr val="0F1B2D"/>
                </a:solidFill>
                <a:latin typeface="Calibri"/>
              </a:rPr>
              <a:t>17% before the loyalty inflection.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B2D"/>
                </a:solidFill>
                <a:latin typeface="Calibri"/>
              </a:rPr>
              <a:t>• Discount addiction — </a:t>
            </a:r>
            <a:r>
              <a:rPr sz="1400">
                <a:solidFill>
                  <a:srgbClr val="0F1B2D"/>
                </a:solidFill>
                <a:latin typeface="Calibri"/>
              </a:rPr>
              <a:t>31% Deal Seekers, 80% on discount.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B2D"/>
                </a:solidFill>
                <a:latin typeface="Calibri"/>
              </a:rPr>
              <a:t>• Event-only repeat — </a:t>
            </a:r>
            <a:r>
              <a:rPr sz="1400">
                <a:solidFill>
                  <a:srgbClr val="0F1B2D"/>
                </a:solidFill>
                <a:latin typeface="Calibri"/>
              </a:rPr>
              <a:t>little BAU habit.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B2D"/>
                </a:solidFill>
                <a:latin typeface="Calibri"/>
              </a:rPr>
              <a:t>• Category concentration — </a:t>
            </a:r>
            <a:r>
              <a:rPr sz="1400">
                <a:solidFill>
                  <a:srgbClr val="0F1B2D"/>
                </a:solidFill>
                <a:latin typeface="Calibri"/>
              </a:rPr>
              <a:t>74% Tech, bags under-sold.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B2D"/>
                </a:solidFill>
                <a:latin typeface="Calibri"/>
              </a:rPr>
              <a:t>• Dormancy — </a:t>
            </a:r>
            <a:r>
              <a:rPr sz="1400">
                <a:solidFill>
                  <a:srgbClr val="0F1B2D"/>
                </a:solidFill>
                <a:latin typeface="Calibri"/>
              </a:rPr>
              <a:t>59% of mature dormant.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803D"/>
                </a:solidFill>
                <a:latin typeface="Calibri"/>
              </a:rP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B2D"/>
                </a:solidFill>
                <a:latin typeface="Calibri"/>
              </a:rPr>
              <a:t>• P1 Win the 2nd order — </a:t>
            </a:r>
            <a:r>
              <a:rPr sz="1400">
                <a:solidFill>
                  <a:srgbClr val="0F1B2D"/>
                </a:solidFill>
                <a:latin typeface="Calibri"/>
              </a:rPr>
              <a:t>onboarding + first-repeat incentive.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B2D"/>
                </a:solidFill>
                <a:latin typeface="Calibri"/>
              </a:rPr>
              <a:t>• P2 Push to 3rd — </a:t>
            </a:r>
            <a:r>
              <a:rPr sz="1400">
                <a:solidFill>
                  <a:srgbClr val="0F1B2D"/>
                </a:solidFill>
                <a:latin typeface="Calibri"/>
              </a:rPr>
              <a:t>cross-category + reorder timing.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B2D"/>
                </a:solidFill>
                <a:latin typeface="Calibri"/>
              </a:rPr>
              <a:t>• P3 Grow Power — </a:t>
            </a:r>
            <a:r>
              <a:rPr sz="1400">
                <a:solidFill>
                  <a:srgbClr val="0F1B2D"/>
                </a:solidFill>
                <a:latin typeface="Calibri"/>
              </a:rPr>
              <a:t>VIP, full-price Tech→Bags cross-sell.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B2D"/>
                </a:solidFill>
                <a:latin typeface="Calibri"/>
              </a:rPr>
              <a:t>• P4 De-risk Deal Seekers — </a:t>
            </a:r>
            <a:r>
              <a:rPr sz="1400">
                <a:solidFill>
                  <a:srgbClr val="0F1B2D"/>
                </a:solidFill>
                <a:latin typeface="Calibri"/>
              </a:rPr>
              <a:t>bundles, raise AOV, wean off discount.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B2D"/>
                </a:solidFill>
                <a:latin typeface="Calibri"/>
              </a:rPr>
              <a:t>• P5 Kill event-dependence — </a:t>
            </a:r>
            <a:r>
              <a:rPr sz="1400">
                <a:solidFill>
                  <a:srgbClr val="0F1B2D"/>
                </a:solidFill>
                <a:latin typeface="Calibri"/>
              </a:rPr>
              <a:t>always-on replenishment journeys.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B2D"/>
                </a:solidFill>
                <a:latin typeface="Calibri"/>
              </a:rPr>
              <a:t>• P6 Reactivate / sunset — </a:t>
            </a:r>
            <a:r>
              <a:rPr sz="1400">
                <a:solidFill>
                  <a:srgbClr val="0F1B2D"/>
                </a:solidFill>
                <a:latin typeface="Calibri"/>
              </a:rPr>
              <a:t>sized by value &amp; affinity.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Operating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FB0C4"/>
                </a:solidFill>
                <a:latin typeface="Calibri"/>
              </a:rPr>
              <a:t>Refresh cadence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63040"/>
          <a:ext cx="10332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56032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Refresh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B2D"/>
                          </a:solidFill>
                        </a:rPr>
                        <a:t>Lifecycle cohort, activity, recency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B2D"/>
                          </a:solidFill>
                        </a:rPr>
                        <a:t>Daily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B2D"/>
                          </a:solidFill>
                        </a:rPr>
                        <a:t>Deterministic / fast-moving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B2D"/>
                          </a:solidFill>
                        </a:rPr>
                        <a:t>Category &amp; sub-category affinity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B2D"/>
                          </a:solidFill>
                        </a:rPr>
                        <a:t>Daily–Weekly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B2D"/>
                          </a:solidFill>
                        </a:rPr>
                        <a:t>Drives creative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B2D"/>
                          </a:solidFill>
                        </a:rPr>
                        <a:t>Value tier, discount 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B2D"/>
                          </a:solidFill>
                        </a:rPr>
                        <a:t>Weekly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B2D"/>
                          </a:solidFill>
                        </a:rPr>
                        <a:t>Slow ratios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B2D"/>
                          </a:solidFill>
                        </a:rPr>
                        <a:t>Behavioural cohort (re-score)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B2D"/>
                          </a:solidFill>
                        </a:rPr>
                        <a:t>Monthly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B2D"/>
                          </a:solidFill>
                        </a:rPr>
                        <a:t>Hysteresis-guarded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B2D"/>
                          </a:solidFill>
                        </a:rPr>
                        <a:t>Model + event windows (re-train)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B2D"/>
                          </a:solidFill>
                        </a:rPr>
                        <a:t>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1B2D"/>
                          </a:solidFill>
                        </a:rPr>
                        <a:t>Identity-changing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8463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F1B2D"/>
                </a:solidFill>
                <a:latin typeface="Calibri"/>
              </a:rPr>
              <a:t>Analysts refresh via Claude in plain language: “Refresh the cohort model with the latest DMR, rebuild the repository, and push to MoEngage.” Claude runs the pipeline, sanity-checks cohort sizes, and syncs.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