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Per +10% price (hike)</c:v>
                </c:pt>
              </c:strCache>
            </c:strRef>
          </c:tx>
          <c:spPr>
            <a:solidFill>
              <a:srgbClr val="C15054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Tech</c:v>
                </c:pt>
                <c:pt idx="1">
                  <c:v>Bags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4.5</c:v>
                </c:pt>
                <c:pt idx="1">
                  <c:v>3.0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 −10% price (cut)</c:v>
                </c:pt>
              </c:strCache>
            </c:strRef>
          </c:tx>
          <c:spPr>
            <a:solidFill>
              <a:srgbClr val="3E7C7B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Tech</c:v>
                </c:pt>
                <c:pt idx="1">
                  <c:v>Bags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24</c:v>
                </c:pt>
                <c:pt idx="1">
                  <c:v>30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3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8DEE4"/>
            </a:solidFill>
          </a:ln>
        </c:spPr>
        <c:txPr>
          <a:bodyPr/>
          <a:lstStyle/>
          <a:p>
            <a:pPr>
              <a:defRPr sz="1200" b="1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4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2191695" cy="73152"/>
          </a:xfrm>
          <a:prstGeom prst="rect">
            <a:avLst/>
          </a:prstGeom>
          <a:solidFill>
            <a:srgbClr val="C15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9C6D6"/>
                </a:solidFill>
                <a:latin typeface="Calibri"/>
              </a:rPr>
              <a:t>DAILYOBJECTS · PRICING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Calibri"/>
              </a:rPr>
              <a:t>Price Elasticity of Conversion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D8E0E8"/>
                </a:solidFill>
                <a:latin typeface="Calibri"/>
              </a:rPr>
              <a:t>How PDP→Add-to-Cart conversion responds when we move price — split by Tech vs Bags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6B7A88"/>
                </a:solidFill>
                <a:latin typeface="Calibri"/>
              </a:rPr>
              <a:t>THE HEADLINE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017520"/>
            <a:ext cx="3566160" cy="265176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017520"/>
            <a:ext cx="82296" cy="2651760"/>
          </a:xfrm>
          <a:prstGeom prst="rect">
            <a:avLst/>
          </a:prstGeom>
          <a:solidFill>
            <a:srgbClr val="C15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31546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22303C"/>
                </a:solidFill>
                <a:latin typeface="Calibri"/>
              </a:rPr>
              <a:t>Tech is ~1.5× more price-sensitive than Bags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434840"/>
            <a:ext cx="3154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6B7A88"/>
                </a:solidFill>
                <a:latin typeface="Calibri"/>
              </a:rPr>
              <a:t>A +10% price hike costs Tech ~4.5% conversion vs Bags ~3.0%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5112" y="3017520"/>
            <a:ext cx="3566160" cy="265176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5112" y="3017520"/>
            <a:ext cx="82296" cy="2651760"/>
          </a:xfrm>
          <a:prstGeom prst="rect">
            <a:avLst/>
          </a:prstGeom>
          <a:solidFill>
            <a:srgbClr val="3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3200400"/>
            <a:ext cx="31546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22303C"/>
                </a:solidFill>
                <a:latin typeface="Calibri"/>
              </a:rPr>
              <a:t>Raising price is far safer than discounting is powerful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4434840"/>
            <a:ext cx="3154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6B7A88"/>
                </a:solidFill>
                <a:latin typeface="Calibri"/>
              </a:rPr>
              <a:t>Cutting price moves conversion ~6-7× more than raising it — the room to lift GM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10144" y="3017520"/>
            <a:ext cx="3566160" cy="265176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0144" y="3017520"/>
            <a:ext cx="82296" cy="265176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8744" y="3200400"/>
            <a:ext cx="31546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22303C"/>
                </a:solidFill>
                <a:latin typeface="Calibri"/>
              </a:rPr>
              <a:t>Selective price increases are the safest GM lever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4434840"/>
            <a:ext cx="3154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6B7A88"/>
                </a:solidFill>
                <a:latin typeface="Calibri"/>
              </a:rPr>
              <a:t>Low sensitivity → higher price flows to gross margin with limited volume loss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A88"/>
                </a:solidFill>
                <a:latin typeface="Calibri"/>
              </a:rPr>
              <a:t>Method: elasticity = (% change in PDP→ATC conversion) ÷ (% change in ASP), on weeks with genuine price moves; restricted to high-confidence reads where ≥15% of category volume actually repriced.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B9C6D6"/>
                </a:solidFill>
                <a:latin typeface="Calibri"/>
              </a:rPr>
              <a:t>SO WHAT · DRIVING GROSS MARGIN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Three levers to drive gross margin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7A88"/>
                </a:solidFill>
                <a:latin typeface="Calibri"/>
              </a:rPr>
              <a:t>Lift realised price and margin per basket without leaning on discounts.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3675887" cy="416052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3675887" cy="109728"/>
          </a:xfrm>
          <a:prstGeom prst="rect">
            <a:avLst/>
          </a:prstGeom>
          <a:solidFill>
            <a:srgbClr val="C15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258568"/>
            <a:ext cx="566928" cy="566928"/>
          </a:xfrm>
          <a:prstGeom prst="ellipse">
            <a:avLst/>
          </a:prstGeom>
          <a:solidFill>
            <a:srgbClr val="C15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990088"/>
            <a:ext cx="321868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2303C"/>
                </a:solidFill>
                <a:latin typeface="Calibri"/>
              </a:rPr>
              <a:t>Raise prices selectively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813048"/>
            <a:ext cx="3218687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6B7A88"/>
                </a:solidFill>
                <a:latin typeface="Calibri"/>
              </a:rPr>
              <a:t>Demand is inelastic to increases (|elasticity| ≈ 0.3–0.5) — a +10% price keeps 95–97% of conversion. Sequence by sensitivity: Bags first, then low-elasticity Tech SKUs; protect hero devices (chargers, Airpods).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5212080"/>
            <a:ext cx="3163823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5257800"/>
            <a:ext cx="2944367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C15054"/>
                </a:solidFill>
                <a:latin typeface="Calibri"/>
              </a:rPr>
              <a:t>95–97%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5605272"/>
            <a:ext cx="2944367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A88"/>
                </a:solidFill>
                <a:latin typeface="Calibri"/>
              </a:rPr>
              <a:t>conversion kept on a +10% price move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70831" y="1965960"/>
            <a:ext cx="3675887" cy="416052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70831" y="1965960"/>
            <a:ext cx="3675887" cy="109728"/>
          </a:xfrm>
          <a:prstGeom prst="rect">
            <a:avLst/>
          </a:prstGeom>
          <a:solidFill>
            <a:srgbClr val="3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26863" y="2258568"/>
            <a:ext cx="566928" cy="566928"/>
          </a:xfrm>
          <a:prstGeom prst="ellipse">
            <a:avLst/>
          </a:prstGeom>
          <a:solidFill>
            <a:srgbClr val="3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6863" y="2990088"/>
            <a:ext cx="321868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2303C"/>
                </a:solidFill>
                <a:latin typeface="Calibri"/>
              </a:rPr>
              <a:t>Shift category mix to high-GM lines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3" y="3813048"/>
            <a:ext cx="3218687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6B7A88"/>
                </a:solidFill>
                <a:latin typeface="Calibri"/>
              </a:rPr>
              <a:t>Demand-shape the basket toward high-AOV categories. Grow Powerbanks + Wireless Chargers from ~21% → ~33% of revenue (₹47 Cr → ₹260 Cr, FY26–FY29). Charging carries multiples of case AOV — lifting mix raises margin without discounting.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26863" y="5212080"/>
            <a:ext cx="3163823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79" y="5257800"/>
            <a:ext cx="2944367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3E7C7B"/>
                </a:solidFill>
                <a:latin typeface="Calibri"/>
              </a:rPr>
              <a:t>21% → 33%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79" y="5605272"/>
            <a:ext cx="2944367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A88"/>
                </a:solidFill>
                <a:latin typeface="Calibri"/>
              </a:rPr>
              <a:t>charging share · blended AOV ₹2,450 → ₹3,200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93022" y="1965960"/>
            <a:ext cx="3675887" cy="416052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93022" y="1965960"/>
            <a:ext cx="3675887" cy="109728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449054" y="2258568"/>
            <a:ext cx="566928" cy="566928"/>
          </a:xfrm>
          <a:prstGeom prst="ellipse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49054" y="2990088"/>
            <a:ext cx="321868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2303C"/>
                </a:solidFill>
                <a:latin typeface="Calibri"/>
              </a:rPr>
              <a:t>Premiumise via IP-led NPD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9054" y="3813048"/>
            <a:ext cx="3218687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6B7A88"/>
                </a:solidFill>
                <a:latin typeface="Calibri"/>
              </a:rPr>
              <a:t>Launch IP-led products in every category — Stack Leather, Loop Qi2.2, Node 3-in-1 / Loft, the Bar desk system, premium bags IP — to raise entry price points and pull the whole basket up.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49054" y="5212080"/>
            <a:ext cx="3163823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77070" y="5257800"/>
            <a:ext cx="2944367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09F3E"/>
                </a:solidFill>
                <a:latin typeface="Calibri"/>
              </a:rPr>
              <a:t>+31% AOV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77070" y="5605272"/>
            <a:ext cx="2944367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A88"/>
                </a:solidFill>
                <a:latin typeface="Calibri"/>
              </a:rPr>
              <a:t>IP-led NPD raises entry price points across categories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35508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A88"/>
                </a:solidFill>
                <a:latin typeface="Calibri"/>
              </a:rPr>
              <a:t>Levers 2–3 from the FY27–FY29 Category Strategy (mix &amp; premiumisation); lever 1 from the elasticity read.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B9C6D6"/>
                </a:solidFill>
                <a:latin typeface="Calibri"/>
              </a:rPr>
              <a:t>THE KEY INSIGHT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Conversion is far more sensitive to cuts than to increases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691640"/>
          <a:ext cx="60350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943600"/>
            <a:ext cx="6035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A88"/>
                </a:solidFill>
                <a:latin typeface="Calibri"/>
              </a:rPr>
              <a:t>Absolute conversion change (PDP→ATC) for a 10% price move, up vs down.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6459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2A41"/>
                </a:solidFill>
                <a:latin typeface="Calibri"/>
              </a:rPr>
              <a:t>Why it matters for GM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148840"/>
            <a:ext cx="5029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350" b="1">
                <a:solidFill>
                  <a:srgbClr val="22303C"/>
                </a:solidFill>
                <a:latin typeface="Calibri"/>
              </a:rPr>
              <a:t>• Price increases are ~inelastic (|elasticity| ≈ 0.3–0.5). A hike keeps almost all conversion.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350" b="0">
                <a:solidFill>
                  <a:srgbClr val="22303C"/>
                </a:solidFill>
                <a:latin typeface="Calibri"/>
              </a:rPr>
              <a:t>• Price cuts are highly elastic (|elasticity| ≈ 2.4–3.0), but promo-inflated and margin-dilutive.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350" b="1">
                <a:solidFill>
                  <a:srgbClr val="C15054"/>
                </a:solidFill>
                <a:latin typeface="Calibri"/>
              </a:rPr>
              <a:t>• So the safest GM lever is a selective price increase, not a discount.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350" b="0">
                <a:solidFill>
                  <a:srgbClr val="22303C"/>
                </a:solidFill>
                <a:latin typeface="Calibri"/>
              </a:rPr>
              <a:t>• Sequence by sensitivity: Bags first (least conversion loss), then low-elasticity Tech SKUs.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5257800"/>
            <a:ext cx="5029200" cy="86868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59168" y="5349240"/>
            <a:ext cx="4709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FFFFFF"/>
                </a:solidFill>
                <a:latin typeface="Calibri"/>
              </a:rPr>
              <a:t>Rule of thumb: +10% price → keep 95–97% of conversion → materially GM-accretive.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