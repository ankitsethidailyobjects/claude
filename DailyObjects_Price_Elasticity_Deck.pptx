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Conv. change per +10% price</c:v>
                </c:pt>
              </c:strCache>
            </c:strRef>
          </c:tx>
          <c:spPr>
            <a:solidFill>
              <a:srgbClr val="C1505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Bags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-4.5</c:v>
                </c:pt>
                <c:pt idx="1">
                  <c:v>-3.0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2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  <c:min val="-6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Conv. change per −10% price</c:v>
                </c:pt>
              </c:strCache>
            </c:strRef>
          </c:tx>
          <c:spPr>
            <a:solidFill>
              <a:srgbClr val="3E7C7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Bags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30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2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 +10% price (hike)</c:v>
                </c:pt>
              </c:strCache>
            </c:strRef>
          </c:tx>
          <c:spPr>
            <a:solidFill>
              <a:srgbClr val="C1505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Bags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 −10% price (cut)</c:v>
                </c:pt>
              </c:strCache>
            </c:strRef>
          </c:tx>
          <c:spPr>
            <a:solidFill>
              <a:srgbClr val="3E7C7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Bags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2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C6D6"/>
                </a:solidFill>
                <a:latin typeface="Calibri"/>
              </a:rPr>
              <a:t>DAILYOBJECTS · PRICING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Price Elasticity of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8E0E8"/>
                </a:solidFill>
                <a:latin typeface="Calibri"/>
              </a:rPr>
              <a:t>How PDP→Add-to-Cart conversion responds when we move price — split by Tech vs Bags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B7A88"/>
                </a:solidFill>
                <a:latin typeface="Calibri"/>
              </a:rPr>
              <a:t>THE HEADLINE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3566160" cy="26517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82296" cy="2651760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2303C"/>
                </a:solidFill>
                <a:latin typeface="Calibri"/>
              </a:rPr>
              <a:t>Tech is ~1.5× more price-sensitive than Bags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A88"/>
                </a:solidFill>
                <a:latin typeface="Calibri"/>
              </a:rPr>
              <a:t>A +10% price hike costs Tech ~4.5% conversion vs Bags ~3.0%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3017520"/>
            <a:ext cx="3566160" cy="26517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017520"/>
            <a:ext cx="82296" cy="2651760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2004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2303C"/>
                </a:solidFill>
                <a:latin typeface="Calibri"/>
              </a:rPr>
              <a:t>Raising price is far safer than discounting is powerful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43484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A88"/>
                </a:solidFill>
                <a:latin typeface="Calibri"/>
              </a:rPr>
              <a:t>Cutting price moves conversion ~6-7× more than raising it — the room to lift GM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3017520"/>
            <a:ext cx="3566160" cy="26517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3017520"/>
            <a:ext cx="82296" cy="26517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32004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2303C"/>
                </a:solidFill>
                <a:latin typeface="Calibri"/>
              </a:rPr>
              <a:t>Bags are the first-line price-increase lever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443484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A88"/>
                </a:solidFill>
                <a:latin typeface="Calibri"/>
              </a:rPr>
              <a:t>Low sensitivity → higher price flows to gross margin with limited volume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A88"/>
                </a:solidFill>
                <a:latin typeface="Calibri"/>
              </a:rPr>
              <a:t>Method: elasticity = (% change in PDP→ATC conversion) ÷ (% change in ASP). Read on weeks with genuine price moves; restricted to high-confidence reads where ≥15% of category volume actually repriced.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C6D6"/>
                </a:solidFill>
                <a:latin typeface="Calibri"/>
              </a:rPr>
              <a:t>PRICE INCREASES  ·  BAU (non-sale) repricing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Raising price: Tech conversion falls ~1.5× more than Bags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00200"/>
          <a:ext cx="50292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692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Conversion (PDP→ATC) change for a +10% price increase, high-confidence reads.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Elasticity: Tech −0.45 · Bags −0.30.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By category (per +10% price)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100584" cy="38404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9339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303C"/>
                </a:solidFill>
                <a:latin typeface="Calibri"/>
              </a:rPr>
              <a:t>Wireless Charger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993392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99339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C15054"/>
                </a:solidFill>
                <a:latin typeface="Calibri"/>
              </a:rPr>
              <a:t>−12.6%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487168"/>
            <a:ext cx="100584" cy="384048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468880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303C"/>
                </a:solidFill>
                <a:latin typeface="Calibri"/>
              </a:rPr>
              <a:t>Laptop Bags &amp; Sleeves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468880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Bags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46888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3E7C7B"/>
                </a:solidFill>
                <a:latin typeface="Calibri"/>
              </a:rPr>
              <a:t>−4.9%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962656"/>
            <a:ext cx="100584" cy="38404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94436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303C"/>
                </a:solidFill>
                <a:latin typeface="Calibri"/>
              </a:rPr>
              <a:t>Airpods Case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944368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944368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C15054"/>
                </a:solidFill>
                <a:latin typeface="Calibri"/>
              </a:rPr>
              <a:t>−4.1%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438144"/>
            <a:ext cx="100584" cy="38404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419856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303C"/>
                </a:solidFill>
                <a:latin typeface="Calibri"/>
              </a:rPr>
              <a:t>Screen Guards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419856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41985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C15054"/>
                </a:solidFill>
                <a:latin typeface="Calibri"/>
              </a:rPr>
              <a:t>−2.9%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913632"/>
            <a:ext cx="100584" cy="38404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895344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303C"/>
                </a:solidFill>
                <a:latin typeface="Calibri"/>
              </a:rPr>
              <a:t>Designer / Phone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895344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895344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C15054"/>
                </a:solidFill>
                <a:latin typeface="Calibri"/>
              </a:rPr>
              <a:t>~0%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389120"/>
            <a:ext cx="100584" cy="384048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37083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303C"/>
                </a:solidFill>
                <a:latin typeface="Calibri"/>
              </a:rPr>
              <a:t>Messenger Bags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370832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Bags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37083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3E7C7B"/>
                </a:solidFill>
                <a:latin typeface="Calibri"/>
              </a:rPr>
              <a:t>~0%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074920"/>
            <a:ext cx="5852160" cy="10515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5074920"/>
            <a:ext cx="82296" cy="1051560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5193792"/>
            <a:ext cx="5577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2303C"/>
                </a:solidFill>
                <a:latin typeface="Calibri"/>
              </a:rPr>
              <a:t>Hypothesis confirmed: within Tech, only commoditised/utility SKUs (cases, guards) hold conversion; hero devices (chargers, Airpods) react sharply. Bags absorb price with little conversion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C6D6"/>
                </a:solidFill>
                <a:latin typeface="Calibri"/>
              </a:rPr>
              <a:t>PRICE DECREASES  ·  Sale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Discounting lifts conversion sharply — for both types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00200"/>
          <a:ext cx="50292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692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Conversion (PDP→ATC) gain for a −10% price cut (median read).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Elasticity: Tech −2.4 · Bags −3.0.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What this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303C"/>
                </a:solidFill>
                <a:latin typeface="Calibri"/>
              </a:rPr>
              <a:t>• Demand is highly responsive to discounts — a ~10% cut lifts conversion 24–30%.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303C"/>
                </a:solidFill>
                <a:latin typeface="Calibri"/>
              </a:rPr>
              <a:t>• Bags respond slightly more than Tech on the downside (more deal-driven, discretionary buys).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B7A88"/>
                </a:solidFill>
                <a:latin typeface="Calibri"/>
              </a:rPr>
              <a:t>• BUT sale weeks bundle marketing pushes &amp; higher-intent traffic — so these gains overstate the pure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B7A88"/>
                </a:solidFill>
                <a:latin typeface="Calibri"/>
              </a:rPr>
              <a:t>   price effect. Treat as an upper bound.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22303C"/>
                </a:solidFill>
                <a:latin typeface="Calibri"/>
              </a:rPr>
              <a:t>• Net: discounts work, but they are a blunt, margin-dilutive lever.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029200"/>
            <a:ext cx="5852160" cy="10972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029200"/>
            <a:ext cx="82296" cy="109728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5138928"/>
            <a:ext cx="5577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03C"/>
                </a:solidFill>
                <a:latin typeface="Calibri"/>
              </a:rPr>
              <a:t>Contrast with the hike side: conversion moves ~6–7× more for a price cut than a price rise. That gap is exactly the pricing headroom.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C6D6"/>
                </a:solidFill>
                <a:latin typeface="Calibri"/>
              </a:rPr>
              <a:t>THE 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Conversion is far more sensitive to cuts than to increases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9164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4360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Absolute conversion change (PDP→ATC) for a 10% price move, up vs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Why it matters for 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22303C"/>
                </a:solidFill>
                <a:latin typeface="Calibri"/>
              </a:rPr>
              <a:t>• Price increases are ~inelastic (|elasticity| ≈ 0.3–0.5). A hike keeps almost all conversion.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0">
                <a:solidFill>
                  <a:srgbClr val="22303C"/>
                </a:solidFill>
                <a:latin typeface="Calibri"/>
              </a:rPr>
              <a:t>• Price cuts are highly elastic (|elasticity| ≈ 2.4–3.0), but promo-inflated and margin-dilutive.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C15054"/>
                </a:solidFill>
                <a:latin typeface="Calibri"/>
              </a:rPr>
              <a:t>• So the safest GM lever is a selective price increase, not a discount.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0">
                <a:solidFill>
                  <a:srgbClr val="22303C"/>
                </a:solidFill>
                <a:latin typeface="Calibri"/>
              </a:rPr>
              <a:t>• Sequence by sensitivity: Bags first (least conversion loss), then low-elasticity Tech SKUs.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5257800"/>
            <a:ext cx="5029200" cy="8686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5349240"/>
            <a:ext cx="4709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Rule of thumb: +10% price → keep 95–97% of conversion → materially GM-accretive.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C6D6"/>
                </a:solidFill>
                <a:latin typeface="Calibri"/>
              </a:rPr>
              <a:t>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How conversion moves after a price increase — and the GM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Illustrative GM bridge · +10% price (start GM 40%)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669280" cy="566928"/>
          </a:xfrm>
          <a:prstGeom prst="rect">
            <a:avLst/>
          </a:prstGeom>
          <a:solidFill>
            <a:srgbClr val="1B2A41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6596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Bags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5669280" cy="566928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Price /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32888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+10%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32888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+10%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99816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99816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Conversion (volume)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99816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−3.0%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99816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−4.5%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66744"/>
            <a:ext cx="5669280" cy="566928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GM / unit (40%→~45%)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666744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+25%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666744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303C"/>
                </a:solidFill>
                <a:latin typeface="Calibri"/>
              </a:rPr>
              <a:t>+25%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3367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33672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303C"/>
                </a:solidFill>
                <a:latin typeface="Calibri"/>
              </a:rPr>
              <a:t>Net category GM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233672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E7C7B"/>
                </a:solidFill>
                <a:latin typeface="Calibri"/>
              </a:rPr>
              <a:t>≈ +21%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233672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15054"/>
                </a:solidFill>
                <a:latin typeface="Calibri"/>
              </a:rPr>
              <a:t>≈ +19%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A88"/>
                </a:solidFill>
                <a:latin typeface="Calibri"/>
              </a:rPr>
              <a:t>Even after the conversion dip, a 10% increase lifts category GM ~20% because margin gain per unit dwarfs the small volume loss.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46304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The playbook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1965960"/>
            <a:ext cx="82296" cy="932688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19842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303C"/>
                </a:solidFill>
                <a:latin typeface="Calibri"/>
              </a:rPr>
              <a:t>1. Lead with Bags.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2295144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A88"/>
                </a:solidFill>
                <a:latin typeface="Calibri"/>
              </a:rPr>
              <a:t>+8–12% now; expect ~3% conversion loss. GM-accretive, low risk.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990088"/>
            <a:ext cx="82296" cy="93268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300837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303C"/>
                </a:solidFill>
                <a:latin typeface="Calibri"/>
              </a:rPr>
              <a:t>2. Be surgical in Tech.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3319272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A88"/>
                </a:solidFill>
                <a:latin typeface="Calibri"/>
              </a:rPr>
              <a:t>+10% costs ~4–5% conversion. Start with inelastic SKUs — cases, screen guards — not hero devices.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014216"/>
            <a:ext cx="82296" cy="93268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9128" y="403250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303C"/>
                </a:solidFill>
                <a:latin typeface="Calibri"/>
              </a:rPr>
              <a:t>3. Protect hero devices.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4343400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A88"/>
                </a:solidFill>
                <a:latin typeface="Calibri"/>
              </a:rPr>
              <a:t>Chargers/Airpods react sharply (&gt;1.0 elasticity) — hold or raise only 3–5%.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5038344"/>
            <a:ext cx="82296" cy="93268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5056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303C"/>
                </a:solidFill>
                <a:latin typeface="Calibri"/>
              </a:rPr>
              <a:t>4. Stop over-discounting.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9128" y="5367528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A88"/>
                </a:solidFill>
                <a:latin typeface="Calibri"/>
              </a:rPr>
              <a:t>Cuts work but are promo-inflated &amp; dilutive. Reserve for true demand moments.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8"/>
                </a:solidFill>
                <a:latin typeface="Calibri"/>
              </a:rPr>
              <a:t>Confidence: directional. Based on high-confidence category reads (≥15% volume repriced); confirm with hero-SKU pulls before broad rollout. Sale-side gains are promo-inflated upper bounds.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