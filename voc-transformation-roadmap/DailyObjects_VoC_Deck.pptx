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E5C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Cases</c:v>
                  </c:pt>
                  <c:pt idx="1">
                    <c:v>Bands</c:v>
                  </c:pt>
                  <c:pt idx="2">
                    <c:v>Bags</c:v>
                  </c:pt>
                  <c:pt idx="3">
                    <c:v>Chargers*</c:v>
                  </c:pt>
                  <c:pt idx="4">
                    <c:v>Wallets</c:v>
                  </c:pt>
                  <c:pt idx="5">
                    <c:v>Screen Prot.</c:v>
                  </c:pt>
                  <c:pt idx="6">
                    <c:v>Power Banks</c:v>
                  </c:pt>
                  <c:pt idx="7">
                    <c:v>AirPods</c:v>
                  </c:pt>
                  <c:pt idx="8">
                    <c:v>Stands</c:v>
                  </c:pt>
                  <c:pt idx="9">
                    <c:v>Cables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21414</c:v>
                </c:pt>
                <c:pt idx="1">
                  <c:v>15088</c:v>
                </c:pt>
                <c:pt idx="2">
                  <c:v>11675</c:v>
                </c:pt>
                <c:pt idx="3">
                  <c:v>5472</c:v>
                </c:pt>
                <c:pt idx="4">
                  <c:v>3961</c:v>
                </c:pt>
                <c:pt idx="5">
                  <c:v>3328</c:v>
                </c:pt>
                <c:pt idx="6">
                  <c:v>3750</c:v>
                </c:pt>
                <c:pt idx="7">
                  <c:v>2059</c:v>
                </c:pt>
                <c:pt idx="8">
                  <c:v>1994</c:v>
                </c:pt>
                <c:pt idx="9">
                  <c:v>1664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3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as requested: methodology and data sources, plus the corrected metric definition (warranty-swap share, not return 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the thesis, the five headline numbers, and the four things to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heatmap. Charging/AirPods/screen-protectors lead on defect intensity; Cases/Bands/Bags lead on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Sizing: top-10 workstreams cover 84% of returns and 74% of 1-star reviews. Long tail within categories, not hot SKUs.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requested top-10. Ordered by a blend of return volume, review drag and defect intensity. P0 = pick up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Synthesis: design is the moat; durability/reliability/after-sales is the tax. Channel divergence blocks new-customer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initiative buckets with headline actions and owners; full detail lives in the HTML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Now/Next/Later roadmap with dependency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framing + the repeated external themes. DO wins on design; loses on protection (Spigen), charging reliability (Anker/Ugreen), leather craft (Nappa Dori).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start the 4 P0s, govern via a monthly VoC council, and provide units-sold to convert warranty-swap into true return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· VOICE-OF-CUSTOMER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Data Sources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9584" cy="2057400"/>
          </a:xfrm>
          <a:prstGeom prst="roundRect">
            <a:avLst>
              <a:gd name="adj" fmla="val 3556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reviews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80,303 valid reviews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2021 – Apr 2026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11,771 SKUs · 28,534 with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838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REVIEW DUMP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29584" cy="2057400"/>
          </a:xfrm>
          <a:prstGeom prst="roundRect">
            <a:avLst>
              <a:gd name="adj" fmla="val 3556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039112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02936" y="2039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&amp; replacements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8576" y="262432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78,947 records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 – Mar 2026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63,511 refunds + 15,436 swaps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8576" y="34838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LOG + REASONS + QC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783080"/>
            <a:ext cx="3529584" cy="2057400"/>
          </a:xfrm>
          <a:prstGeom prst="roundRect">
            <a:avLst>
              <a:gd name="adj" fmla="val 3556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039112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88552" y="2039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VoC sweep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94192" y="262432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independent sources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 · Trustpilot · MouthShut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Sitejabber · communities · competitors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94192" y="34838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+ MARKETPLACES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internal reviews × returns × external web.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4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is rated High-confidence only where two or more independent sources agree.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Return-reason coding is noisy (35% blank/CX), so true cause is rebuilt from the refund-vs-replacement mix, QC notes and review text.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2A1E1C"/>
          </a:solidFill>
          <a:ln w="15875">
            <a:solidFill>
              <a:srgbClr val="A434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NUMBERS CORRECTLY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517136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0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units-sold column exists in any sheet — a true return rate (returns ÷ units sold) cannot be computed and no figure here is one.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0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%s are </a:t>
            </a:r>
            <a:pPr indent="0" marL="0">
              <a:lnSpc>
                <a:spcPct val="108000"/>
              </a:lnSpc>
              <a:buNone/>
            </a:pPr>
            <a:r>
              <a:rPr lang="en-US" sz="1150" b="1" i="1" dirty="0">
                <a:solidFill>
                  <a:srgbClr val="F0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warranty-swap share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0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replacements ÷ (refunds + replacements) for that item — the make-up of the units that came back, vs a ~20% brand baseline. A high share = a defect signal, not a return rate.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promise is outrunning quality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4EF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real — design, aesthetics and the Stack ecosystem are the #1 reason customers buy.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being taxed by a widening gap in durability, reliability and expectation-setting — worst in the electronics line and in after-sales. As the company scales ~₹111 Cr → ₹400 Cr, that gap becomes the ceiling on repeat rate, ratings and pricing power.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4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3.38★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1729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product rating.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28.9% of reviews are 1-star.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4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→ 3.0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8892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trend '24→'26.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share 24% → 39%.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7492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4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 vs 20%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74920" y="3172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warranty-swap share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brand baseline (not a return rate).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3172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returns in 3 categories: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Bands, Bags.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vs 1.7–2.5★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vs independent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sites (Trustpilot etc.).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562856"/>
            <a:ext cx="402336" cy="402336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5628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reliability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50932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line, clear-case yellowing/peel, AirPods &amp; Apple-Watch glass — the acute quality failures.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64992" y="43434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84448" y="4562856"/>
            <a:ext cx="402336" cy="402336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96512" y="45628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content gap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02736" y="50932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Sizing, colour accuracy &amp; PDP dimensions — the biggest lever on avoidable returns (bands, bags, sleeves).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1344" y="43434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562856"/>
            <a:ext cx="402336" cy="402336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45628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after-sales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9088" y="50932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Refund/replacement SLA + live agent + a marketed no-quibble guarantee — the top external liability.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97696" y="43434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7152" y="4562856"/>
            <a:ext cx="402336" cy="402336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33" name="Text 31"/>
          <p:cNvSpPr/>
          <p:nvPr/>
        </p:nvSpPr>
        <p:spPr>
          <a:xfrm>
            <a:off x="9217152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29216" y="45628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the moat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35440" y="509320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Stack/Qi2, reframe value = design + proven durability, scale B2B gifting — once quality is fixed.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unchanged from the full report; only the charging metric framing was corrected to warranty-swap share.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HEATMAP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intervene — by category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822960"/>
                <a:gridCol w="640080"/>
                <a:gridCol w="685800"/>
                <a:gridCol w="52395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★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issue → action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Chargers · Power Banks · Cables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10,886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3.1–3.5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3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— 47% warranty-swap vs 20% base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AirPods Cases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2,059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3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▬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stitching / finish — worst-rated line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Protectors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3,328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3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Apple-Watch glass 2.17 — discontinue / redesign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Cases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21,414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3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Yellowing / peel / finish — biggest return volume (27%)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Watch Bands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15,088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3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▬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+ Solo Loop fit + colour — largest 1★ drag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 &amp; Card Holders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3,961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▬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Adhesive fails — stitched construction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Stands &amp; Mounts (Stack)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1,994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▬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(few reviews, high returns) — ergonomics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11,675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2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Loved but size-returned — PDP content fix, not quality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Sleeves &amp; Folios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2,966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2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Model-fit sizing — compatibility selector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Organisers · Desk Mats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3.9–4.15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2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— protect, expand, use as proof-point</a:t>
                      </a:r>
                      <a:endParaRPr lang="en-US" sz="11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556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blends rating, return volume, warranty-swap share &amp; cross-source confirmation — not a return rate. Returns = absolute record counts.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a long tail inside a few categories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1264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by category (absolute record counts). *Chargers+Power Banks+Cables = one reliability workstream.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03720" y="1554480"/>
            <a:ext cx="4736592" cy="2103120"/>
          </a:xfrm>
          <a:prstGeom prst="roundRect">
            <a:avLst>
              <a:gd name="adj" fmla="val 3043"/>
            </a:avLst>
          </a:prstGeom>
          <a:solidFill>
            <a:srgbClr val="E4EFEC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0" y="20116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SKU is the villain — the top-10 SKUs are just 8.7% of returns.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lives in category-wide, fixable patterns. So the unit of action is the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fix-workstream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SKU.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949440" y="4544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returns sit in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fix-workstreams.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32688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4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326880" y="4544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1-star reviews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(17,207 of 23,236) too.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5257800"/>
            <a:ext cx="4736592" cy="914400"/>
          </a:xfrm>
          <a:prstGeom prst="roundRect">
            <a:avLst>
              <a:gd name="adj" fmla="val 7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5349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10 workstreams on the next slide first — they retire the bulk of both operational leakage and review drag.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pieces to pick up first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9888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77640"/>
                <a:gridCol w="2148840"/>
                <a:gridCol w="1947672"/>
                <a:gridCol w="54864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Fix-workstream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(returns / share)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signal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Phone-case material fix (anti-yellow / anti-peel)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21,414 · 27%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3.32★ · 3,374×1★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+ Quality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Watch-band sizing system + Solo Loop redesign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15,088 · 19%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3.10★ · 4,703×1★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Ecommerce + Product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 PDP sizing/expectation (Kelp, Rhythm, Pedal)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11,675 · 15%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3.81★ · loved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46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Ecommerce + Category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reliability overhaul (Loop, SURGE, GaN)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10,886 · 14%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47–90% swap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+ Supply Chain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Wallets/leather — stitched, not glued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3,961 · 5%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3.43★ · 1,171×1★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46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+ Quality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protectors — kill/redesign AW glass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3,328 · 4%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3.12★ (glass 2.17)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+ Category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AirPods case relaunch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2,059 · 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2.62★ · 50% 1★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+ Quality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stand/grip ergonomics redesign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1,994 · 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3.24★ (Slate 2.35)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46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ID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Colour-accuracy PDP fix (Rose Gold Milanese +)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2,726 colour-returns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content win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46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D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Ecommerce + Brand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After-sales SLA + reason-code capture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cross-cutting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ext. liability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A43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Cust. Support + CX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556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10 cover 84% of returns &amp; 74% of 1-star reviews. P0 = start in 0–3 mo. Sizes are absolute returns; % of all returns; not return rates.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reality vs. market perception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E1EFE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LOVE  (the moat)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aesthetics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#1 buy &amp; recommend driver, every category &amp; source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modular ecosystem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980+ combos, EU Design Award, Qi2; a real moat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 &amp; finish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desk mats, tech organisers (4.15★), sleeves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giftability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basis of the B2B lane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3E1DD"/>
          </a:solidFill>
          <a:ln/>
        </p:spPr>
      </p:sp>
      <p:sp>
        <p:nvSpPr>
          <p:cNvPr id="8" name="Text 6"/>
          <p:cNvSpPr/>
          <p:nvPr/>
        </p:nvSpPr>
        <p:spPr>
          <a:xfrm>
            <a:off x="6428232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4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DISSATISFACTION  (the tax)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28232" y="193852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&amp; reliability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yellowing, peel, adhesive &amp; charging failures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reliability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highest warranty-swap intensity in the catalogue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&amp; fit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bands, bags, sleeves (largely a content gap)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After-sales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slow refunds, adversarial returns, no live agent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Price-to-quality perception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market's #1 objection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1672" cy="2148840"/>
          </a:xfrm>
          <a:prstGeom prst="roundRect">
            <a:avLst>
              <a:gd name="adj" fmla="val 2979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CHANNEL DIVERGENCE — the loudest external signal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4.7★ app-store rating (the shopping experience) sits next to 1.7–2.5★ on independent product/service sites (Trustpilot 2.5, MouthShut 2.35, Sitejabber 1.7).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A4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 who researches the brand hits that wall.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After-sales is nearly invisible in internal reviews but dominant externally — it blocks NEW customers, not just existing ones.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4964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9640" y="50017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857232" y="4681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0" y="4434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4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1.7–2.5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0" y="5001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INITIATIVE TRACKER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workstreams, owner-assigned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Improvements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05740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Anti-yellow cases · charging overhaul · AirPods relaunch · Stack ergonomics · kill AW glass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4173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618488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Product Development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05740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Stack/Qi2 · women-first line · gift kits &amp; bundles · complete colourways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73568" y="14173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618488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8512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Quality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93024" y="205740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scorecards · 100% powered QC · stitched leather · packaging · colour calibration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53512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31363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&amp; CX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35935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SLA + live agent · no-quibble guarantee · fix reason codes · delivery SLA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61104" y="2953512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3154680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31363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Brand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80560" y="35935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design + durability · fix discount signalling · off-platform reputation mgmt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2953512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3154680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68512" y="31363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93024" y="3593592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content · sizing video · review velocity · design-led assortment (not commodity)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89704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4690872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43584" y="46725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Ecommerce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68096" y="5129784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Sizing/compatibility system · calibrated imagery · on-PDP durability &amp; care education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61104" y="4489704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2272" y="4690872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41" name="Text 39"/>
          <p:cNvSpPr/>
          <p:nvPr/>
        </p:nvSpPr>
        <p:spPr>
          <a:xfrm>
            <a:off x="4462272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56048" y="46725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Merchandising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480560" y="5129784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bundles for AOV · entry-price fighter via base case — not markdowns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73568" y="4489704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74736" y="4690872"/>
            <a:ext cx="384048" cy="384048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46" name="Text 44"/>
          <p:cNvSpPr/>
          <p:nvPr/>
        </p:nvSpPr>
        <p:spPr>
          <a:xfrm>
            <a:off x="8174736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68512" y="46725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Governance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193024" y="5129784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VoC council · rating &amp; warranty-swap early-warning · social listening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tracker (problem · evidence · root cause · action · outcome · impact · confidence · priority · owner · timeline) in the HTML report.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sequencing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84448" cy="777240"/>
          </a:xfrm>
          <a:prstGeom prst="roundRect">
            <a:avLst>
              <a:gd name="adj" fmla="val 7059"/>
            </a:avLst>
          </a:prstGeom>
          <a:solidFill>
            <a:srgbClr val="0E5C5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 · stop the bleeding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84448" cy="3474720"/>
          </a:xfrm>
          <a:prstGeom prst="roundRect">
            <a:avLst>
              <a:gd name="adj" fmla="val 1579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87168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Charging-line triage: RCA + batch quarantine + 100% powered QC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 Apple-Watch tempered glass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After-sales SLA (refund ≤5 days) + live-agent escalation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return-reason capture — build the data spine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&amp; PDP quick-fixes + watch-band size gauge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VoC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84448" cy="777240"/>
          </a:xfrm>
          <a:prstGeom prst="roundRect">
            <a:avLst>
              <a:gd name="adj" fmla="val 7059"/>
            </a:avLst>
          </a:prstGeom>
          <a:solidFill>
            <a:srgbClr val="B4661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7276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1901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 · fix root causes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584448" cy="3474720"/>
          </a:xfrm>
          <a:prstGeom prst="roundRect">
            <a:avLst>
              <a:gd name="adj" fmla="val 1579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487168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Anti-yellowing case material rollout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AirPods case relaunch (2.62★ → 4.0★)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GaN dual-port + cable redesign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 leather construction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Sizing/compatibility system across PDPs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No-quibble guarantee + reputation mgmt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84448" cy="777240"/>
          </a:xfrm>
          <a:prstGeom prst="roundRect">
            <a:avLst>
              <a:gd name="adj" fmla="val 7059"/>
            </a:avLst>
          </a:prstGeom>
          <a:solidFill>
            <a:srgbClr val="2E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7276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1901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 · compound the moat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84448" cy="3474720"/>
          </a:xfrm>
          <a:prstGeom prst="roundRect">
            <a:avLst>
              <a:gd name="adj" fmla="val 1579"/>
            </a:avLst>
          </a:prstGeom>
          <a:solidFill>
            <a:srgbClr val="F4F6F5"/>
          </a:solidFill>
          <a:ln w="12700">
            <a:solidFill>
              <a:srgbClr val="DED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487168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Stack / Qi2 ecosystem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re-brand: design + proven durability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corporate / B2B gifting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Women-first design line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EBO quality-touch merchandising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3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Institutionalise the VoC operating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logic: data spine first · quality fixes before the growth push · the durability guarantee launches AFTER material fixes land.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3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market frames the choice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2286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win on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for DailyObjects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5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Spigen / ESR / Ringke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protection, value, Amazon availability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i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“Spigen if you'll drop it, DailyObjects if you want it beautiful.”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Casetify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(design)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design benchmark, ultra-protective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i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out of India — DO is the local design alternative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Anker / Ugreen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Reliability, cooler GaN, 18–24 mo warranty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i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trails on charging performance &amp; heat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Mokobara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 / luggage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Travel-grade build, 6-yr warranty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i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plays everyday/office bags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Nappa Dori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Leather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413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Full-grain craftsmanship &amp; consistency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i="1" dirty="0">
                          <a:solidFill>
                            <a:srgbClr val="6B6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DO's glued leather fails — clear loss on craft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47872" cy="3703320"/>
          </a:xfrm>
          <a:prstGeom prst="roundRect">
            <a:avLst>
              <a:gd name="adj" fmla="val 1804"/>
            </a:avLst>
          </a:prstGeom>
          <a:solidFill>
            <a:srgbClr val="141312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EXTERNAL THEMES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1040" y="1901952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“Overpriced for the quality”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#1 cross-platform objection
</a:t>
            </a:r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print peel after water, edge yellowing ~1 month
</a:t>
            </a:r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&amp; return friction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“money stuck”, “nobody takes ownership”
</a:t>
            </a:r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“Pathetic Service”, no live agent
</a:t>
            </a:r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design, finish, packaging, giftability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volumes are small &amp; complaint-skewed — directional on WHAT fails, not HOW often. Reddit/India-forum sentiment remains a gap.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MOVE THAT SHARPENS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quality gap without diluting the design edge.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651760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now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P0 workstreams — charging, cases, watch-band sizing, after-sales — retire most of the leakage and 1-star drag in one quarter.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23774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2651760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6758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VoC council on a live SKU heatmap turns this from a one-off study into an operating system. Every issue here was visible in the data months earlier.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23774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0242A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651760"/>
            <a:ext cx="457200" cy="4572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data gap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6758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units-sold per SKU and every warranty-swap figure converts to a true return rate — the single input that would most sharpen prioritisation.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— 25 opportunities, the initiative tracker, SKU heatmap and roadmap — in the interactive report.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2026-08-05T13:45:04Z</dcterms:created>
  <dcterms:modified xsi:type="dcterms:W3CDTF">2026-08-05T13:45:04Z</dcterms:modified>
</cp:coreProperties>
</file>